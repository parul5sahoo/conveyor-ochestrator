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showcasing the Stackbox Conveyor Orchestrator—a production-grade multi-agent warehouse automation system designed to handle critical industrial conveyor belt malfunctions deterministically. Rather than a simple chat wrapper, this codebase demonstrates how we have embedded all nine foundational pillars of the Gemini Enterprise Platform (GEP) to achieve enterprise reliability, strict safety compliance, and zero-latency hardware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mission-critical warehouse environments, pure LLM loops introduce unacceptable latency and probabilistic failure risks. By leveraging GEP's Agent Development Kit (ADK) 2.0 Workflow architecture, we enforce strict Directed Acyclic Graph (DAG) boundaries where physical hardware operations execute in parallel and converge deterministically before any AI dispatching occurs.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1 focuses on our core workflow routing defined in agent.py. When telemetry streams report a belt jam, TelemetryIngest evaluates the error severity. If critical, it forks execution across two parallel branches. To protect programmable logic controllers (PLCs) from stampede errors during network blips, every hardware node is wrapped in an exponential retry configuration with randomized jitter.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mechanical failure occurs, technicians need exact manufacturer runbooks rather than generic LLM advice. In Pillar 2, our agent queries an enterprise Discovery Engine vector datastore. It translates cryptic sensor fault codes into step-by-step repair runbooks, specifically ensuring that required electrical Lockout-Tagout safety warnings are injected into the technician's dispatch orders.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3 highlights our use of the modern Model Context Protocol, or MCP. Rather than building fragile, custom REST wrappers for every warehouse bot, we host a dedicated MCP server in mcp_server.py. The orchestrator inspects real-time picker bot battery levels and physical locations, dynamically re-routing AGVs to bypass broken conveyor zones without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4 brings physical eyesight to our orchestrator. Using Gemini's native multimodal vision capabilities, the system connects directly to warehouse CCTV camera streams. Before authorizing AGVs to enter a repair aisle, it verifies that human technicians are wearing required safety gear. If an operator is detected without PPE, the workflow immediately halts autonomous bot movement and logs an infraction.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warehouse shifts rotate constantly. Pillar 5 solves context loss across shift changes using Vertex AI Memory Bank. By embedding preload_memory_tool, the orchestrator remembers technician Dave's qualifications and active audit tasks from previous days. When Dave logs back in, the agent skips redundant onboarding questions and immediately resumes active maintenance workflows.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Allowing AI agents to run arbitrary code on production PLCs is a major security hazard. In Pillar 6, we utilize GEP's secure Agent Sandbox. When analyzing heavy telemetry logs for thermal overheating, the orchestrator delegates the task to a specialized sandbox subagent. It writes and executes pandas scripts inside an isolated container, returning only clean statistical insights back to the main controller.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7 represents our defense-in-depth security governance. In model_armor_config.yaml, we configure strict Model Armor guardrails. Even if an attacker injects a malicious prompt attempting to force conveyor motors beyond maximum physical RPMs, Model Armor intercepts and terminates the instruction. Furthermore, all service-to-robotic dispatches are authenticated via SPIFFE mutual TLS certificates.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prove our agent is safe before deploying to a live warehouse? Pillar 8 highlights our automated Quality Flywheel. We define custom LLM-as-a-judge metrics in GEP console tracking hallucination rates and tool-calling accuracy. Every code change runs through an automated grading loop against synthetic industrial disaster datasets.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Pillar 9 showcases production operations. Using agent_runtime_app.py, the entire multi-agent DAG packages into a serverless Vertex AI Reasoning Engine with a single CLI command. In production, operators monitor live robotic fleet movements via our real-time FastAPI SVG dashboard, backed by full OpenTelemetry distributed trace logging in Google Cloud.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the Stackbox Conveyor Orchestrator proves that agentic AI can safely operate heavy industrial machinery when built on the Gemini Enterprise Platform. By wrapping powerful reasoning models inside deterministic workflows, real-time MCP fleet connectors, and zero-trust guardrails, we achieve true autonomous warehouse resilience. We will now open the floor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TITLE SLIDE</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Stackbox Conveyor Orchestrator</a:t>
            </a:r>
          </a:p>
          <a:p>
            <a:pPr>
              <a:defRPr sz="2000">
                <a:solidFill>
                  <a:srgbClr val="4ADE80"/>
                </a:solidFill>
              </a:defRPr>
            </a:pPr>
            <a:r>
              <a:t>Enterprise Autonomous Warehouse Control Powered by GEP &amp; ADK 2.0</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Presenter: Engineering &amp; Architecture Team</a:t>
            </a:r>
          </a:p>
          <a:p>
            <a:pPr>
              <a:spcAft>
                <a:spcPts val="1400"/>
              </a:spcAft>
              <a:defRPr sz="1800">
                <a:solidFill>
                  <a:srgbClr val="F8FAFC"/>
                </a:solidFill>
              </a:defRPr>
            </a:pPr>
            <a:r>
              <a:t>•   Repository: stackbox-conveyor-orchestrator</a:t>
            </a:r>
          </a:p>
          <a:p>
            <a:pPr>
              <a:spcAft>
                <a:spcPts val="1400"/>
              </a:spcAft>
              <a:defRPr sz="1800">
                <a:solidFill>
                  <a:srgbClr val="F8FAFC"/>
                </a:solidFill>
              </a:defRPr>
            </a:pPr>
            <a:r>
              <a:t>•   Highlighting 9 Core Pillars of the Gemini Enterprise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SYSTEM TOPOLOGY</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Executive Summary &amp; Architecture</a:t>
            </a:r>
          </a:p>
          <a:p>
            <a:pPr>
              <a:defRPr sz="2000">
                <a:solidFill>
                  <a:srgbClr val="4ADE80"/>
                </a:solidFill>
              </a:defRPr>
            </a:pPr>
            <a:r>
              <a:t>Architecting Autonomous Industrial Operations</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The Challenge: Warehouse conveyor stoppages cause compounding supply chain delays and hazardous manual bypass picking.</a:t>
            </a:r>
          </a:p>
          <a:p>
            <a:pPr>
              <a:spcAft>
                <a:spcPts val="1400"/>
              </a:spcAft>
              <a:defRPr sz="1800">
                <a:solidFill>
                  <a:srgbClr val="F8FAFC"/>
                </a:solidFill>
              </a:defRPr>
            </a:pPr>
            <a:r>
              <a:t>•   The GEP Solution: A hybrid graph-directed agentic architecture combining deterministic code execution with reasoning models.</a:t>
            </a:r>
          </a:p>
          <a:p>
            <a:pPr>
              <a:spcAft>
                <a:spcPts val="1400"/>
              </a:spcAft>
              <a:defRPr sz="1800">
                <a:solidFill>
                  <a:srgbClr val="F8FAFC"/>
                </a:solidFill>
              </a:defRPr>
            </a:pPr>
            <a:r>
              <a:t>•   Ingest: Telemetry parsing and severity classification (CRITICAL vs. RECOVERABLE).</a:t>
            </a:r>
          </a:p>
          <a:p>
            <a:pPr>
              <a:spcAft>
                <a:spcPts val="1400"/>
              </a:spcAft>
              <a:defRPr sz="1800">
                <a:solidFill>
                  <a:srgbClr val="F8FAFC"/>
                </a:solidFill>
              </a:defRPr>
            </a:pPr>
            <a:r>
              <a:t>•   Hardware Routing: Parallel vector SOP lookup and real-time fleet stock queries.</a:t>
            </a:r>
          </a:p>
          <a:p>
            <a:pPr>
              <a:spcAft>
                <a:spcPts val="1400"/>
              </a:spcAft>
              <a:defRPr sz="1800">
                <a:solidFill>
                  <a:srgbClr val="F8FAFC"/>
                </a:solidFill>
              </a:defRPr>
            </a:pPr>
            <a:r>
              <a:t>•   Synthesis: Autonomous picker bot rerouting and authoritative engineering audit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PILLAR 1: WORKFLOW API</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ADK 2.0 Workflow Routing</a:t>
            </a:r>
          </a:p>
          <a:p>
            <a:pPr>
              <a:defRPr sz="2000">
                <a:solidFill>
                  <a:srgbClr val="4ADE80"/>
                </a:solidFill>
              </a:defRPr>
            </a:pPr>
            <a:r>
              <a:t>Deterministic DAGs &amp; Conditional Control Flows</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Core Construct: Graph-based orchestration built via ADK 2.0 Workflow and FunctionNodes in agent.py.</a:t>
            </a:r>
          </a:p>
          <a:p>
            <a:pPr>
              <a:spcAft>
                <a:spcPts val="1400"/>
              </a:spcAft>
              <a:defRPr sz="1800">
                <a:solidFill>
                  <a:srgbClr val="F8FAFC"/>
                </a:solidFill>
              </a:defRPr>
            </a:pPr>
            <a:r>
              <a:t>•   Parallel Branches: Simultaneous routing to RunbookLookup and WMSAccess upon detecting CRITICAL fault codes.</a:t>
            </a:r>
          </a:p>
          <a:p>
            <a:pPr>
              <a:spcAft>
                <a:spcPts val="1400"/>
              </a:spcAft>
              <a:defRPr sz="1800">
                <a:solidFill>
                  <a:srgbClr val="F8FAFC"/>
                </a:solidFill>
              </a:defRPr>
            </a:pPr>
            <a:r>
              <a:t>•   State Synchronization: JoinNode aggregates asynchronous hardware payloads before transferring context to the downstream LlmAgent.</a:t>
            </a:r>
          </a:p>
          <a:p>
            <a:pPr>
              <a:spcAft>
                <a:spcPts val="1400"/>
              </a:spcAft>
              <a:defRPr sz="1800">
                <a:solidFill>
                  <a:srgbClr val="F8FAFC"/>
                </a:solidFill>
              </a:defRPr>
            </a:pPr>
            <a:r>
              <a:t>•   Jittered Backoff: Hardware-facing nodes utilize RetryConfig with exponential backoff (2.0x) and randomized jitter (0.5s) to protect physical controllers.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PILLAR 2: DISCOVERY ENGINE</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Enterprise Vector RAG &amp; SOPs</a:t>
            </a:r>
          </a:p>
          <a:p>
            <a:pPr>
              <a:defRPr sz="2000">
                <a:solidFill>
                  <a:srgbClr val="4ADE80"/>
                </a:solidFill>
              </a:defRPr>
            </a:pPr>
            <a:r>
              <a:t>Grounding Agent Decisions in Discovery Engine Datastores</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Vector Datastore: Seamless integration with Google Cloud Discovery Engine vector search indexes.</a:t>
            </a:r>
          </a:p>
          <a:p>
            <a:pPr>
              <a:spcAft>
                <a:spcPts val="1400"/>
              </a:spcAft>
              <a:defRPr sz="1800">
                <a:solidFill>
                  <a:srgbClr val="F8FAFC"/>
                </a:solidFill>
              </a:defRPr>
            </a:pPr>
            <a:r>
              <a:t>•   Semantic Grounding: Ingests raw PLC fault codes (e.g., ERR-CONV-MTR-09) and extracts high-context mechanical repair walkthroughs.</a:t>
            </a:r>
          </a:p>
          <a:p>
            <a:pPr>
              <a:spcAft>
                <a:spcPts val="1400"/>
              </a:spcAft>
              <a:defRPr sz="1800">
                <a:solidFill>
                  <a:srgbClr val="F8FAFC"/>
                </a:solidFill>
              </a:defRPr>
            </a:pPr>
            <a:r>
              <a:t>•   Safety Priority: Automatically surfaces mandatory OSHA Lockout-Tagout (LOTO) de-energization procedures.</a:t>
            </a:r>
          </a:p>
          <a:p>
            <a:pPr>
              <a:spcAft>
                <a:spcPts val="1400"/>
              </a:spcAft>
              <a:defRPr sz="1800">
                <a:solidFill>
                  <a:srgbClr val="F8FAFC"/>
                </a:solidFill>
              </a:defRPr>
            </a:pPr>
            <a:r>
              <a:t>•   Zero Hallucination: Grounded SOP retrieval ensures mechanical repair instructions adhere strictly to manufacturer tolerances.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PILLAR 3: MCP SERVER</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Real-Time Fleet MCP Connectors</a:t>
            </a:r>
          </a:p>
          <a:p>
            <a:pPr>
              <a:defRPr sz="2000">
                <a:solidFill>
                  <a:srgbClr val="4ADE80"/>
                </a:solidFill>
              </a:defRPr>
            </a:pPr>
            <a:r>
              <a:t>Standardized Tooling Architecture via Model Context Protocol</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Stdio Transport: Host dedicated stdio MCP server (mcp_server.py) tracking active warehouse robotic bot states.</a:t>
            </a:r>
          </a:p>
          <a:p>
            <a:pPr>
              <a:spcAft>
                <a:spcPts val="1400"/>
              </a:spcAft>
              <a:defRPr sz="1800">
                <a:solidFill>
                  <a:srgbClr val="F8FAFC"/>
                </a:solidFill>
              </a:defRPr>
            </a:pPr>
            <a:r>
              <a:t>•   Live Telemetry: Exposes stock availability, AGV battery percentages, warehouse aisle coordinates, and active tasks.</a:t>
            </a:r>
          </a:p>
          <a:p>
            <a:pPr>
              <a:spcAft>
                <a:spcPts val="1400"/>
              </a:spcAft>
              <a:defRPr sz="1800">
                <a:solidFill>
                  <a:srgbClr val="F8FAFC"/>
                </a:solidFill>
              </a:defRPr>
            </a:pPr>
            <a:r>
              <a:t>•   Autonomous Bypass Rerouting: Dynamically coordinates physical AGV picker bot picking bypasses around damaged conveyor zones.</a:t>
            </a:r>
          </a:p>
          <a:p>
            <a:pPr>
              <a:spcAft>
                <a:spcPts val="1400"/>
              </a:spcAft>
              <a:defRPr sz="1800">
                <a:solidFill>
                  <a:srgbClr val="F8FAFC"/>
                </a:solidFill>
              </a:defRPr>
            </a:pPr>
            <a:r>
              <a:t>•   Decoupled Architecture: Standardized MCP schemas eliminate custom ad-hoc hardware integration scripts.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PILLAR 4: MULTIMODAL VISION</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Multimodal CCTV Vision Auditing</a:t>
            </a:r>
          </a:p>
          <a:p>
            <a:pPr>
              <a:defRPr sz="2000">
                <a:solidFill>
                  <a:srgbClr val="4ADE80"/>
                </a:solidFill>
              </a:defRPr>
            </a:pPr>
            <a:r>
              <a:t>Real-Time Visual Posture &amp; Safety Inspection</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Native Multimodality: Powered by Gemini 1.5 Pro visual reasoning engines.</a:t>
            </a:r>
          </a:p>
          <a:p>
            <a:pPr>
              <a:spcAft>
                <a:spcPts val="1400"/>
              </a:spcAft>
              <a:defRPr sz="1800">
                <a:solidFill>
                  <a:srgbClr val="F8FAFC"/>
                </a:solidFill>
              </a:defRPr>
            </a:pPr>
            <a:r>
              <a:t>•   Live CCTV Ingest: Directly inspects streaming camera feeds and snapshots across active repair aisles.</a:t>
            </a:r>
          </a:p>
          <a:p>
            <a:pPr>
              <a:spcAft>
                <a:spcPts val="1400"/>
              </a:spcAft>
              <a:defRPr sz="1800">
                <a:solidFill>
                  <a:srgbClr val="F8FAFC"/>
                </a:solidFill>
              </a:defRPr>
            </a:pPr>
            <a:r>
              <a:t>•   Automated Safety Infraction Logging: Audits repair zones to verify technician Personal Protective Equipment (PPE) compliance.</a:t>
            </a:r>
          </a:p>
          <a:p>
            <a:pPr>
              <a:spcAft>
                <a:spcPts val="1400"/>
              </a:spcAft>
              <a:defRPr sz="1800">
                <a:solidFill>
                  <a:srgbClr val="F8FAFC"/>
                </a:solidFill>
              </a:defRPr>
            </a:pPr>
            <a:r>
              <a:t>•   Immediate Interlock: Halts autonomous AGV movement if operators are detected without safety hard hats or high-visibility vests.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PILLAR 5: VERTEX AI MEMORY BANK</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Cross-Session Long-Term Memory</a:t>
            </a:r>
          </a:p>
          <a:p>
            <a:pPr>
              <a:defRPr sz="2000">
                <a:solidFill>
                  <a:srgbClr val="4ADE80"/>
                </a:solidFill>
              </a:defRPr>
            </a:pPr>
            <a:r>
              <a:t>Persistent Operator Profile Recollection via Memory Bank</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Memory Bank Binding: Integrates Vertex AI Session Service long-term context retention across runs.</a:t>
            </a:r>
          </a:p>
          <a:p>
            <a:pPr>
              <a:spcAft>
                <a:spcPts val="1400"/>
              </a:spcAft>
              <a:defRPr sz="1800">
                <a:solidFill>
                  <a:srgbClr val="F8FAFC"/>
                </a:solidFill>
              </a:defRPr>
            </a:pPr>
            <a:r>
              <a:t>•   Shift Continuity: Recalls technician Dave's identity, certifications (e.g., LOTO Level 3), and historical auditing goals across multi-day shifts.</a:t>
            </a:r>
          </a:p>
          <a:p>
            <a:pPr>
              <a:spcAft>
                <a:spcPts val="1400"/>
              </a:spcAft>
              <a:defRPr sz="1800">
                <a:solidFill>
                  <a:srgbClr val="F8FAFC"/>
                </a:solidFill>
              </a:defRPr>
            </a:pPr>
            <a:r>
              <a:t>•   Contextual Personalization: Automatically adjusts technical engineering explanation depth based on logged-in operator credentials.</a:t>
            </a:r>
          </a:p>
          <a:p>
            <a:pPr>
              <a:spcAft>
                <a:spcPts val="1400"/>
              </a:spcAft>
              <a:defRPr sz="1800">
                <a:solidFill>
                  <a:srgbClr val="F8FAFC"/>
                </a:solidFill>
              </a:defRPr>
            </a:pPr>
            <a:r>
              <a:t>•   Zero Onboarding Overhead: Eliminates repetitive shift-handoff briefing prompts.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PILLAR 6: GEP AGENT SANDBOX</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Isolated Secure Agent Sandbox</a:t>
            </a:r>
          </a:p>
          <a:p>
            <a:pPr>
              <a:defRPr sz="2000">
                <a:solidFill>
                  <a:srgbClr val="4ADE80"/>
                </a:solidFill>
              </a:defRPr>
            </a:pPr>
            <a:r>
              <a:t>Sandboxed Python Code Execution for Telemetry Stress Profiling</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GEP Agent Sandbox: Spawns isolated container execution runtimes decoupled from core warehouse SCADA/PLC networks.</a:t>
            </a:r>
          </a:p>
          <a:p>
            <a:pPr>
              <a:spcAft>
                <a:spcPts val="1400"/>
              </a:spcAft>
              <a:defRPr sz="1800">
                <a:solidFill>
                  <a:srgbClr val="F8FAFC"/>
                </a:solidFill>
              </a:defRPr>
            </a:pPr>
            <a:r>
              <a:t>•   Data Science Toolchain: Equipped with write_file_to_sandbox, execute_python_in_sandbox, and read_file_from_sandbox.</a:t>
            </a:r>
          </a:p>
          <a:p>
            <a:pPr>
              <a:spcAft>
                <a:spcPts val="1400"/>
              </a:spcAft>
              <a:defRPr sz="1800">
                <a:solidFill>
                  <a:srgbClr val="F8FAFC"/>
                </a:solidFill>
              </a:defRPr>
            </a:pPr>
            <a:r>
              <a:t>•   On-the-Fly Calculation: Synthesizes pandas and numpy diagnostic scripts to compute ambient Thermal Heat Stress Indices across motor bearings.</a:t>
            </a:r>
          </a:p>
          <a:p>
            <a:pPr>
              <a:spcAft>
                <a:spcPts val="1400"/>
              </a:spcAft>
              <a:defRPr sz="1800">
                <a:solidFill>
                  <a:srgbClr val="F8FAFC"/>
                </a:solidFill>
              </a:defRPr>
            </a:pPr>
            <a:r>
              <a:t>•   Air-Gapped Security: Protects physical motor controllers from untrusted dynamic code execution.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PILLAR 7: GOVERNANCE &amp; SECURITY</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Enterprise Governance Guardrails</a:t>
            </a:r>
          </a:p>
          <a:p>
            <a:pPr>
              <a:defRPr sz="2000">
                <a:solidFill>
                  <a:srgbClr val="4ADE80"/>
                </a:solidFill>
              </a:defRPr>
            </a:pPr>
            <a:r>
              <a:t>Zero-Trust AI Enforcement via Model Armor &amp; SPIFFE</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Model Armor Sanitization: Intercepts inbound prompts and outbound LLM responses to prevent prompt injection exploits.</a:t>
            </a:r>
          </a:p>
          <a:p>
            <a:pPr>
              <a:spcAft>
                <a:spcPts val="1400"/>
              </a:spcAft>
              <a:defRPr sz="1800">
                <a:solidFill>
                  <a:srgbClr val="F8FAFC"/>
                </a:solidFill>
              </a:defRPr>
            </a:pPr>
            <a:r>
              <a:t>•   Physical Ceiling Enforcement: Hard-bans instructions attempting to override motor speeds beyond physical tolerances.</a:t>
            </a:r>
          </a:p>
          <a:p>
            <a:pPr>
              <a:spcAft>
                <a:spcPts val="1400"/>
              </a:spcAft>
              <a:defRPr sz="1800">
                <a:solidFill>
                  <a:srgbClr val="F8FAFC"/>
                </a:solidFill>
              </a:defRPr>
            </a:pPr>
            <a:r>
              <a:t>•   SPIFFE Workload Identity: Enforces cryptographic service identifiers (spiffe://stackbox.internal/...) for mTLS authentication.</a:t>
            </a:r>
          </a:p>
          <a:p>
            <a:pPr>
              <a:spcAft>
                <a:spcPts val="1400"/>
              </a:spcAft>
              <a:defRPr sz="1800">
                <a:solidFill>
                  <a:srgbClr val="F8FAFC"/>
                </a:solidFill>
              </a:defRPr>
            </a:pPr>
            <a:r>
              <a:t>•   Immutable Audit Logging: Cryptographically binds every robotic dispatch order to authenticated technician credentials.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PILLAR 8: EVALUATION SUITE</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Automated Quality Flywheel</a:t>
            </a:r>
          </a:p>
          <a:p>
            <a:pPr>
              <a:defRPr sz="2000">
                <a:solidFill>
                  <a:srgbClr val="4ADE80"/>
                </a:solidFill>
              </a:defRPr>
            </a:pPr>
            <a:r>
              <a:t>Continuous Evaluation via LLM-as-a-Judge &amp; ADK Eval</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Custom GEAP Metrics: Evaluates trajectories against multi_turn_task_success, multi_turn_tool_use_quality, and hallucination.</a:t>
            </a:r>
          </a:p>
          <a:p>
            <a:pPr>
              <a:spcAft>
                <a:spcPts val="1400"/>
              </a:spcAft>
              <a:defRPr sz="1800">
                <a:solidFill>
                  <a:srgbClr val="F8FAFC"/>
                </a:solidFill>
              </a:defRPr>
            </a:pPr>
            <a:r>
              <a:t>•   Synthetic Dataset Synthesis: Automatically generates complex multi-turn warehouse failure test scenarios.</a:t>
            </a:r>
          </a:p>
          <a:p>
            <a:pPr>
              <a:spcAft>
                <a:spcPts val="1400"/>
              </a:spcAft>
              <a:defRPr sz="1800">
                <a:solidFill>
                  <a:srgbClr val="F8FAFC"/>
                </a:solidFill>
              </a:defRPr>
            </a:pPr>
            <a:r>
              <a:t>•   Automated Grading Loop: Regression tests agent traces to guarantee prompt updates never degrade safety compliance.</a:t>
            </a:r>
          </a:p>
          <a:p>
            <a:pPr>
              <a:spcAft>
                <a:spcPts val="1400"/>
              </a:spcAft>
              <a:defRPr sz="1800">
                <a:solidFill>
                  <a:srgbClr val="F8FAFC"/>
                </a:solidFill>
              </a:defRPr>
            </a:pPr>
            <a:r>
              <a:t>•   Prompt Auto-Optimization: Utilizes grade feedback clusters to automatically fine-tune agent system prompts.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PILLAR 9: CLOUD RUNTIME</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Production Cloud Deployment</a:t>
            </a:r>
          </a:p>
          <a:p>
            <a:pPr>
              <a:defRPr sz="2000">
                <a:solidFill>
                  <a:srgbClr val="4ADE80"/>
                </a:solidFill>
              </a:defRPr>
            </a:pPr>
            <a:r>
              <a:t>Vertex AI Reasoning Engines &amp; Enterprise Observability</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Reasoning Engine Packaging: One-click remote deployment to Vertex AI Agent Runtime via agents-cli deploy.</a:t>
            </a:r>
          </a:p>
          <a:p>
            <a:pPr>
              <a:spcAft>
                <a:spcPts val="1400"/>
              </a:spcAft>
              <a:defRPr sz="1800">
                <a:solidFill>
                  <a:srgbClr val="F8FAFC"/>
                </a:solidFill>
              </a:defRPr>
            </a:pPr>
            <a:r>
              <a:t>•   Live Telemetry UI: Hosts real-time FastAPI web dashboard with interactive SVG monitoring of AGV routes and CCTV states.</a:t>
            </a:r>
          </a:p>
          <a:p>
            <a:pPr>
              <a:spcAft>
                <a:spcPts val="1400"/>
              </a:spcAft>
              <a:defRPr sz="1800">
                <a:solidFill>
                  <a:srgbClr val="F8FAFC"/>
                </a:solidFill>
              </a:defRPr>
            </a:pPr>
            <a:r>
              <a:t>•   Distributed GenAI Tracing: Fully instrumented with OpenTelemetry prompt-response tracking and Google Cloud Logging.</a:t>
            </a:r>
          </a:p>
          <a:p>
            <a:pPr>
              <a:spcAft>
                <a:spcPts val="1400"/>
              </a:spcAft>
              <a:defRPr sz="1800">
                <a:solidFill>
                  <a:srgbClr val="F8FAFC"/>
                </a:solidFill>
              </a:defRPr>
            </a:pPr>
            <a:r>
              <a:t>•   Enterprise Scalability: Serverless infrastructure scaling automatically under heavy warehouse telemetry bursts.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3840480" cy="411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CONCLUSION &amp; QA</a:t>
            </a:r>
          </a:p>
        </p:txBody>
      </p:sp>
      <p:sp>
        <p:nvSpPr>
          <p:cNvPr id="4" name="TextBox 3"/>
          <p:cNvSpPr txBox="1"/>
          <p:nvPr/>
        </p:nvSpPr>
        <p:spPr>
          <a:xfrm>
            <a:off x="731520" y="1097280"/>
            <a:ext cx="10515600" cy="1097280"/>
          </a:xfrm>
          <a:prstGeom prst="rect">
            <a:avLst/>
          </a:prstGeom>
          <a:noFill/>
        </p:spPr>
        <p:txBody>
          <a:bodyPr wrap="square">
            <a:spAutoFit/>
          </a:bodyPr>
          <a:lstStyle/>
          <a:p>
            <a:pPr>
              <a:defRPr sz="3800" b="1">
                <a:solidFill>
                  <a:srgbClr val="F8FAFC"/>
                </a:solidFill>
              </a:defRPr>
            </a:pPr>
            <a:r>
              <a:t>Conclusion &amp; Summary</a:t>
            </a:r>
          </a:p>
          <a:p>
            <a:pPr>
              <a:defRPr sz="2000">
                <a:solidFill>
                  <a:srgbClr val="4ADE80"/>
                </a:solidFill>
              </a:defRPr>
            </a:pPr>
            <a:r>
              <a:t>Delivering Deterministic Industrial Agentic Systems</a:t>
            </a:r>
          </a:p>
        </p:txBody>
      </p:sp>
      <p:sp>
        <p:nvSpPr>
          <p:cNvPr id="5" name="Rectangle 4"/>
          <p:cNvSpPr/>
          <p:nvPr/>
        </p:nvSpPr>
        <p:spPr>
          <a:xfrm>
            <a:off x="731520" y="2377440"/>
            <a:ext cx="10728655"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1800">
                <a:solidFill>
                  <a:srgbClr val="F8FAFC"/>
                </a:solidFill>
              </a:defRPr>
            </a:pPr>
            <a:r>
              <a:t>•   Summary: Achieved zero-trust industrial automation combining ADK 2.0 DAG determinism with Gemini reasoning multimodality.</a:t>
            </a:r>
          </a:p>
          <a:p>
            <a:pPr>
              <a:spcAft>
                <a:spcPts val="1400"/>
              </a:spcAft>
              <a:defRPr sz="1800">
                <a:solidFill>
                  <a:srgbClr val="F8FAFC"/>
                </a:solidFill>
              </a:defRPr>
            </a:pPr>
            <a:r>
              <a:t>•   Operational Impact: Eliminated hazardous manual conveyor bypass picking and minimized downtime.</a:t>
            </a:r>
          </a:p>
          <a:p>
            <a:pPr>
              <a:spcAft>
                <a:spcPts val="1400"/>
              </a:spcAft>
              <a:defRPr sz="1800">
                <a:solidFill>
                  <a:srgbClr val="F8FAFC"/>
                </a:solidFill>
              </a:defRPr>
            </a:pPr>
            <a:r>
              <a:t>•   Next Steps: Expand MCP fleet connectors to high-reach turret trucks and thermal CCTV feeds.</a:t>
            </a:r>
          </a:p>
          <a:p>
            <a:pPr>
              <a:spcAft>
                <a:spcPts val="1400"/>
              </a:spcAft>
              <a:defRPr sz="1800">
                <a:solidFill>
                  <a:srgbClr val="F8FAFC"/>
                </a:solidFill>
              </a:defRPr>
            </a:pPr>
            <a:r>
              <a:t>•   Open Q&amp;A: Thank you for your time. 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